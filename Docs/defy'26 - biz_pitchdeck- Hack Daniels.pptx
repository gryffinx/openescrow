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Arvo" panose="020B0604020202020204" charset="0"/>
      <p:regular r:id="rId10"/>
    </p:embeddedFont>
    <p:embeddedFont>
      <p:font typeface="DM Sans Bold" panose="020B0604020202020204" charset="0"/>
      <p:regular r:id="rId11"/>
    </p:embeddedFont>
    <p:embeddedFont>
      <p:font typeface="HK Modular" panose="020B0604020202020204" charset="0"/>
      <p:regular r:id="rId12"/>
    </p:embeddedFont>
    <p:embeddedFont>
      <p:font typeface="Yapari Trial Ultra-Bold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894158" y="241430"/>
            <a:ext cx="2453168" cy="887775"/>
            <a:chOff x="0" y="0"/>
            <a:chExt cx="3270891" cy="1183700"/>
          </a:xfrm>
        </p:grpSpPr>
        <p:sp>
          <p:nvSpPr>
            <p:cNvPr id="3" name="TextBox 3"/>
            <p:cNvSpPr txBox="1"/>
            <p:nvPr/>
          </p:nvSpPr>
          <p:spPr>
            <a:xfrm>
              <a:off x="1698028" y="509126"/>
              <a:ext cx="301868" cy="498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 b="1">
                  <a:solidFill>
                    <a:srgbClr val="F8F6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&amp;</a:t>
              </a:r>
            </a:p>
          </p:txBody>
        </p:sp>
        <p:sp>
          <p:nvSpPr>
            <p:cNvPr id="4" name="Freeform 4"/>
            <p:cNvSpPr/>
            <p:nvPr/>
          </p:nvSpPr>
          <p:spPr>
            <a:xfrm>
              <a:off x="2238099" y="150907"/>
              <a:ext cx="1032792" cy="1032792"/>
            </a:xfrm>
            <a:custGeom>
              <a:avLst/>
              <a:gdLst/>
              <a:ahLst/>
              <a:cxnLst/>
              <a:rect l="l" t="t" r="r" b="b"/>
              <a:pathLst>
                <a:path w="1032792" h="1032792">
                  <a:moveTo>
                    <a:pt x="0" y="0"/>
                  </a:moveTo>
                  <a:lnTo>
                    <a:pt x="1032792" y="0"/>
                  </a:lnTo>
                  <a:lnTo>
                    <a:pt x="1032792" y="1032793"/>
                  </a:lnTo>
                  <a:lnTo>
                    <a:pt x="0" y="10327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>
              <a:off x="0" y="0"/>
              <a:ext cx="1459826" cy="1113503"/>
            </a:xfrm>
            <a:custGeom>
              <a:avLst/>
              <a:gdLst/>
              <a:ahLst/>
              <a:cxnLst/>
              <a:rect l="l" t="t" r="r" b="b"/>
              <a:pathLst>
                <a:path w="1459826" h="1113503">
                  <a:moveTo>
                    <a:pt x="0" y="0"/>
                  </a:moveTo>
                  <a:lnTo>
                    <a:pt x="1459826" y="0"/>
                  </a:lnTo>
                  <a:lnTo>
                    <a:pt x="1459826" y="1113503"/>
                  </a:lnTo>
                  <a:lnTo>
                    <a:pt x="0" y="11135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3700" t="-8605" r="-10776" b="-19500"/>
              </a:stretch>
            </a:blipFill>
          </p:spPr>
        </p:sp>
      </p:grpSp>
      <p:sp>
        <p:nvSpPr>
          <p:cNvPr id="6" name="Freeform 6"/>
          <p:cNvSpPr/>
          <p:nvPr/>
        </p:nvSpPr>
        <p:spPr>
          <a:xfrm rot="-1863244">
            <a:off x="3344172" y="-649997"/>
            <a:ext cx="11219984" cy="11077185"/>
          </a:xfrm>
          <a:custGeom>
            <a:avLst/>
            <a:gdLst/>
            <a:ahLst/>
            <a:cxnLst/>
            <a:rect l="l" t="t" r="r" b="b"/>
            <a:pathLst>
              <a:path w="11219984" h="11077185">
                <a:moveTo>
                  <a:pt x="0" y="0"/>
                </a:moveTo>
                <a:lnTo>
                  <a:pt x="11219984" y="0"/>
                </a:lnTo>
                <a:lnTo>
                  <a:pt x="11219984" y="11077185"/>
                </a:lnTo>
                <a:lnTo>
                  <a:pt x="0" y="110771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5651822" y="5029200"/>
            <a:ext cx="6984355" cy="8015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 dirty="0" err="1">
                <a:solidFill>
                  <a:srgbClr val="98FB51"/>
                </a:solidFill>
                <a:latin typeface="HK Modular"/>
                <a:ea typeface="HK Modular"/>
                <a:cs typeface="HK Modular"/>
                <a:sym typeface="HK Modular"/>
              </a:rPr>
              <a:t>OPenescrow</a:t>
            </a:r>
            <a:endParaRPr lang="en-US" sz="5000" dirty="0">
              <a:solidFill>
                <a:srgbClr val="98FB51"/>
              </a:solidFill>
              <a:latin typeface="HK Modular"/>
              <a:ea typeface="HK Modular"/>
              <a:cs typeface="HK Modular"/>
              <a:sym typeface="HK Modula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530264" y="7396515"/>
            <a:ext cx="9975936" cy="11644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759"/>
              </a:lnSpc>
            </a:pPr>
            <a:r>
              <a:rPr lang="en-US" sz="3399" dirty="0">
                <a:solidFill>
                  <a:srgbClr val="99FF52"/>
                </a:solidFill>
                <a:latin typeface="HK Modular"/>
                <a:ea typeface="HK Modular"/>
                <a:cs typeface="HK Modular"/>
                <a:sym typeface="HK Modular"/>
              </a:rPr>
              <a:t>Team Name : hack </a:t>
            </a:r>
            <a:r>
              <a:rPr lang="en-US" sz="3399" dirty="0" err="1">
                <a:solidFill>
                  <a:srgbClr val="99FF52"/>
                </a:solidFill>
                <a:latin typeface="HK Modular"/>
                <a:ea typeface="HK Modular"/>
                <a:cs typeface="HK Modular"/>
                <a:sym typeface="HK Modular"/>
              </a:rPr>
              <a:t>daniels</a:t>
            </a:r>
            <a:endParaRPr lang="en-US" sz="3399" dirty="0">
              <a:solidFill>
                <a:srgbClr val="99FF52"/>
              </a:solidFill>
              <a:latin typeface="HK Modular"/>
              <a:ea typeface="HK Modular"/>
              <a:cs typeface="HK Modular"/>
              <a:sym typeface="HK Modular"/>
            </a:endParaRPr>
          </a:p>
          <a:p>
            <a:pPr>
              <a:lnSpc>
                <a:spcPts val="4759"/>
              </a:lnSpc>
            </a:pPr>
            <a:r>
              <a:rPr lang="en-US" sz="3399" dirty="0">
                <a:solidFill>
                  <a:srgbClr val="99FF52"/>
                </a:solidFill>
                <a:latin typeface="HK Modular"/>
                <a:ea typeface="HK Modular"/>
                <a:cs typeface="HK Modular"/>
                <a:sym typeface="HK Modular"/>
              </a:rPr>
              <a:t>Domain : web3/blockchain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283822"/>
            <a:ext cx="16230600" cy="2604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69"/>
              </a:lnSpc>
              <a:spcBef>
                <a:spcPct val="0"/>
              </a:spcBef>
            </a:pPr>
            <a:r>
              <a:rPr lang="en-US" sz="7264" b="1" spc="-305" dirty="0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rPr>
              <a:t>BUSINESS PITCH  DECK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19253" y="241430"/>
            <a:ext cx="3916566" cy="787270"/>
            <a:chOff x="0" y="0"/>
            <a:chExt cx="5222089" cy="104969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27376"/>
              <a:ext cx="4575484" cy="1022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90"/>
                </a:lnSpc>
                <a:spcBef>
                  <a:spcPct val="0"/>
                </a:spcBef>
              </a:pPr>
              <a:r>
                <a:rPr lang="en-US" sz="4421" b="1" spc="-185">
                  <a:solidFill>
                    <a:srgbClr val="99FF52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Defy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75484" y="-47625"/>
              <a:ext cx="646605" cy="591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9"/>
                </a:lnSpc>
              </a:pPr>
              <a:r>
                <a:rPr lang="en-US" sz="1235" b="1" spc="-51">
                  <a:solidFill>
                    <a:srgbClr val="99FF52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26</a:t>
              </a:r>
            </a:p>
            <a:p>
              <a:pPr algn="ctr">
                <a:lnSpc>
                  <a:spcPts val="1729"/>
                </a:lnSpc>
                <a:spcBef>
                  <a:spcPct val="0"/>
                </a:spcBef>
              </a:pPr>
              <a:endParaRPr lang="en-US" sz="1235" b="1" spc="-51">
                <a:solidFill>
                  <a:srgbClr val="99FF52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endParaRP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7347327" y="0"/>
            <a:ext cx="1464651" cy="11762955"/>
            <a:chOff x="0" y="0"/>
            <a:chExt cx="1952869" cy="15683939"/>
          </a:xfrm>
        </p:grpSpPr>
        <p:sp>
          <p:nvSpPr>
            <p:cNvPr id="14" name="Freeform 14"/>
            <p:cNvSpPr/>
            <p:nvPr/>
          </p:nvSpPr>
          <p:spPr>
            <a:xfrm rot="5400000" flipH="1">
              <a:off x="678042" y="-678042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8"/>
                  </a:lnTo>
                  <a:lnTo>
                    <a:pt x="596784" y="1952868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 rot="5400000" flipH="1">
              <a:off x="678042" y="8061109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 rot="5400000" flipH="1">
              <a:off x="678042" y="85383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8"/>
                  </a:lnTo>
                  <a:lnTo>
                    <a:pt x="596784" y="1952868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 rot="5400000" flipH="1">
              <a:off x="678042" y="896318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 rot="5400000" flipH="1">
              <a:off x="678042" y="1710941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8"/>
                  </a:lnTo>
                  <a:lnTo>
                    <a:pt x="596784" y="1952868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5400000" flipH="1">
              <a:off x="678042" y="2525563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5400000" flipH="1">
              <a:off x="678042" y="3329125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8"/>
                  </a:lnTo>
                  <a:lnTo>
                    <a:pt x="596784" y="1952868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5400000" flipH="1">
              <a:off x="678042" y="4128187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 rot="5400000" flipH="1">
              <a:off x="678042" y="4942810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8"/>
                  </a:lnTo>
                  <a:lnTo>
                    <a:pt x="596784" y="1952868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 rot="5400000" flipH="1">
              <a:off x="678042" y="5741872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5400000" flipH="1">
              <a:off x="678042" y="6525375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 rot="5400000" flipH="1">
              <a:off x="678042" y="7293318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8"/>
                  </a:lnTo>
                  <a:lnTo>
                    <a:pt x="596784" y="1952868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 rot="5400000" flipH="1">
              <a:off x="678042" y="9602883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 rot="5400000" flipH="1">
              <a:off x="678042" y="10366308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 rot="5400000" flipH="1">
              <a:off x="678042" y="11177244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 rot="5400000" flipH="1">
              <a:off x="678042" y="11991866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 rot="5400000" flipH="1">
              <a:off x="678042" y="12806489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8"/>
                  </a:lnTo>
                  <a:lnTo>
                    <a:pt x="596784" y="1952868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 rot="5400000" flipH="1">
              <a:off x="678042" y="13610050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 rot="5400000" flipH="1">
              <a:off x="678042" y="14409113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 rot="5400000" flipH="1">
              <a:off x="678042" y="8822239"/>
              <a:ext cx="596784" cy="1952869"/>
            </a:xfrm>
            <a:custGeom>
              <a:avLst/>
              <a:gdLst/>
              <a:ahLst/>
              <a:cxnLst/>
              <a:rect l="l" t="t" r="r" b="b"/>
              <a:pathLst>
                <a:path w="596784" h="1952869">
                  <a:moveTo>
                    <a:pt x="596784" y="0"/>
                  </a:moveTo>
                  <a:lnTo>
                    <a:pt x="0" y="0"/>
                  </a:lnTo>
                  <a:lnTo>
                    <a:pt x="0" y="1952869"/>
                  </a:lnTo>
                  <a:lnTo>
                    <a:pt x="596784" y="1952869"/>
                  </a:lnTo>
                  <a:lnTo>
                    <a:pt x="596784" y="0"/>
                  </a:lnTo>
                  <a:close/>
                </a:path>
              </a:pathLst>
            </a:custGeom>
            <a:blipFill>
              <a:blip r:embed="rId6"/>
              <a:stretch>
                <a:fillRect l="-175037" t="-5260" r="-24163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15569183" y="212611"/>
            <a:ext cx="2334717" cy="844908"/>
            <a:chOff x="0" y="0"/>
            <a:chExt cx="3112956" cy="1126544"/>
          </a:xfrm>
        </p:grpSpPr>
        <p:sp>
          <p:nvSpPr>
            <p:cNvPr id="5" name="TextBox 5"/>
            <p:cNvSpPr txBox="1"/>
            <p:nvPr/>
          </p:nvSpPr>
          <p:spPr>
            <a:xfrm>
              <a:off x="1616039" y="482243"/>
              <a:ext cx="287293" cy="4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8"/>
                </a:lnSpc>
              </a:pPr>
              <a:r>
                <a:rPr lang="en-US" sz="2149" b="1">
                  <a:solidFill>
                    <a:srgbClr val="F8F6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&amp;</a:t>
              </a:r>
            </a:p>
          </p:txBody>
        </p:sp>
        <p:sp>
          <p:nvSpPr>
            <p:cNvPr id="6" name="Freeform 6"/>
            <p:cNvSpPr/>
            <p:nvPr/>
          </p:nvSpPr>
          <p:spPr>
            <a:xfrm>
              <a:off x="2130032" y="143621"/>
              <a:ext cx="982924" cy="982924"/>
            </a:xfrm>
            <a:custGeom>
              <a:avLst/>
              <a:gdLst/>
              <a:ahLst/>
              <a:cxnLst/>
              <a:rect l="l" t="t" r="r" b="b"/>
              <a:pathLst>
                <a:path w="982924" h="982924">
                  <a:moveTo>
                    <a:pt x="0" y="0"/>
                  </a:moveTo>
                  <a:lnTo>
                    <a:pt x="982924" y="0"/>
                  </a:lnTo>
                  <a:lnTo>
                    <a:pt x="982924" y="982923"/>
                  </a:lnTo>
                  <a:lnTo>
                    <a:pt x="0" y="982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1389338" cy="1059737"/>
            </a:xfrm>
            <a:custGeom>
              <a:avLst/>
              <a:gdLst/>
              <a:ahLst/>
              <a:cxnLst/>
              <a:rect l="l" t="t" r="r" b="b"/>
              <a:pathLst>
                <a:path w="1389338" h="1059737">
                  <a:moveTo>
                    <a:pt x="0" y="0"/>
                  </a:moveTo>
                  <a:lnTo>
                    <a:pt x="1389338" y="0"/>
                  </a:lnTo>
                  <a:lnTo>
                    <a:pt x="1389338" y="1059737"/>
                  </a:lnTo>
                  <a:lnTo>
                    <a:pt x="0" y="1059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700" t="-8605" r="-10776" b="-19500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223455" y="838200"/>
            <a:ext cx="14669581" cy="1169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62"/>
              </a:lnSpc>
              <a:spcBef>
                <a:spcPct val="0"/>
              </a:spcBef>
            </a:pPr>
            <a:r>
              <a:rPr lang="en-US" sz="6473" b="1" spc="-271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rPr>
              <a:t>PROBLEM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94202" y="3086100"/>
            <a:ext cx="15299595" cy="4794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lvl="0" indent="-571500" algn="ctr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Online P2P  transactions rely on trust between strangers</a:t>
            </a:r>
          </a:p>
          <a:p>
            <a:pPr marL="571500" lvl="0" indent="-571500" algn="ctr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Centralized escrow services charge high fees, cause delays, and expose sensitive deal terms.</a:t>
            </a:r>
          </a:p>
          <a:p>
            <a:pPr marL="571500" lvl="0" indent="-571500" algn="ctr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Freelancers, creators, and small businesses lack a simple, trustless solution.</a:t>
            </a:r>
          </a:p>
          <a:p>
            <a:pPr marL="571500" lvl="0" indent="-571500" algn="ctr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The Issue: There is no low-cost, transparent, and trust-free escrow system for digital transactions.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419253" y="241430"/>
            <a:ext cx="3916566" cy="787270"/>
            <a:chOff x="0" y="0"/>
            <a:chExt cx="5222089" cy="1049694"/>
          </a:xfrm>
        </p:grpSpPr>
        <p:sp>
          <p:nvSpPr>
            <p:cNvPr id="11" name="TextBox 11"/>
            <p:cNvSpPr txBox="1"/>
            <p:nvPr/>
          </p:nvSpPr>
          <p:spPr>
            <a:xfrm>
              <a:off x="0" y="27376"/>
              <a:ext cx="4575484" cy="1022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90"/>
                </a:lnSpc>
                <a:spcBef>
                  <a:spcPct val="0"/>
                </a:spcBef>
              </a:pPr>
              <a:r>
                <a:rPr lang="en-US" sz="4421" b="1" spc="-185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Defy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75484" y="-47625"/>
              <a:ext cx="646605" cy="591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9"/>
                </a:lnSpc>
              </a:pPr>
              <a:r>
                <a:rPr lang="en-US" sz="1235" b="1" spc="-51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26</a:t>
              </a:r>
            </a:p>
            <a:p>
              <a:pPr algn="ctr">
                <a:lnSpc>
                  <a:spcPts val="1729"/>
                </a:lnSpc>
                <a:spcBef>
                  <a:spcPct val="0"/>
                </a:spcBef>
              </a:pPr>
              <a:endParaRPr lang="en-US" sz="1235" b="1" spc="-51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809210" y="594157"/>
            <a:ext cx="14669581" cy="116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58"/>
              </a:lnSpc>
              <a:spcBef>
                <a:spcPct val="0"/>
              </a:spcBef>
            </a:pPr>
            <a:r>
              <a:rPr lang="en-US" sz="6470" b="1" spc="-271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rPr>
              <a:t>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3416" y="2485400"/>
            <a:ext cx="17190484" cy="7482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 err="1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OpenEscrow</a:t>
            </a: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: A decentralized escrow platform powered by smart contracts. Funds are locked on-chain and released automatically when conditions are met, requiring no intermediaries.</a:t>
            </a:r>
          </a:p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Product Overview: A Web-based </a:t>
            </a:r>
            <a:r>
              <a:rPr lang="en-US" sz="2800" dirty="0" err="1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dApp</a:t>
            </a: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 with a smart contract–based escrow flow (Deposit funds, Lock in escrow, Automatic release). The key advantage is that trust is enforced by code, not by a third party.</a:t>
            </a:r>
          </a:p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Technology Stack: Blockchain: </a:t>
            </a:r>
            <a:r>
              <a:rPr lang="en-US" sz="2800" dirty="0" err="1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Shardeum</a:t>
            </a: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; Privacy Layer (Conceptual): INCO; Backend Infrastructure: </a:t>
            </a:r>
            <a:r>
              <a:rPr lang="en-US" sz="2800" dirty="0" err="1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ThinkRoot</a:t>
            </a: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; Smart Contracts: Solidity (EVM-compatible).</a:t>
            </a:r>
          </a:p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Impact: Lower transaction costs, faster settlements, full transparency, and improved trust.</a:t>
            </a:r>
          </a:p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2000" dirty="0">
              <a:sym typeface="Arvo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419253" y="241430"/>
            <a:ext cx="3916566" cy="787270"/>
            <a:chOff x="0" y="0"/>
            <a:chExt cx="5222089" cy="1049694"/>
          </a:xfrm>
        </p:grpSpPr>
        <p:sp>
          <p:nvSpPr>
            <p:cNvPr id="7" name="TextBox 7"/>
            <p:cNvSpPr txBox="1"/>
            <p:nvPr/>
          </p:nvSpPr>
          <p:spPr>
            <a:xfrm>
              <a:off x="0" y="27376"/>
              <a:ext cx="4575484" cy="1022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90"/>
                </a:lnSpc>
                <a:spcBef>
                  <a:spcPct val="0"/>
                </a:spcBef>
              </a:pPr>
              <a:r>
                <a:rPr lang="en-US" sz="4421" b="1" spc="-185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Defy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5484" y="-47625"/>
              <a:ext cx="646605" cy="591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9"/>
                </a:lnSpc>
              </a:pPr>
              <a:r>
                <a:rPr lang="en-US" sz="1235" b="1" spc="-51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26</a:t>
              </a:r>
            </a:p>
            <a:p>
              <a:pPr algn="ctr">
                <a:lnSpc>
                  <a:spcPts val="1729"/>
                </a:lnSpc>
                <a:spcBef>
                  <a:spcPct val="0"/>
                </a:spcBef>
              </a:pPr>
              <a:endParaRPr lang="en-US" sz="1235" b="1" spc="-51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569183" y="212611"/>
            <a:ext cx="2334717" cy="844908"/>
            <a:chOff x="0" y="0"/>
            <a:chExt cx="3112956" cy="1126544"/>
          </a:xfrm>
        </p:grpSpPr>
        <p:sp>
          <p:nvSpPr>
            <p:cNvPr id="10" name="TextBox 10"/>
            <p:cNvSpPr txBox="1"/>
            <p:nvPr/>
          </p:nvSpPr>
          <p:spPr>
            <a:xfrm>
              <a:off x="1616039" y="482243"/>
              <a:ext cx="287293" cy="4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8"/>
                </a:lnSpc>
              </a:pPr>
              <a:r>
                <a:rPr lang="en-US" sz="2149" b="1">
                  <a:solidFill>
                    <a:srgbClr val="F8F6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&amp;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130032" y="143621"/>
              <a:ext cx="982924" cy="982924"/>
            </a:xfrm>
            <a:custGeom>
              <a:avLst/>
              <a:gdLst/>
              <a:ahLst/>
              <a:cxnLst/>
              <a:rect l="l" t="t" r="r" b="b"/>
              <a:pathLst>
                <a:path w="982924" h="982924">
                  <a:moveTo>
                    <a:pt x="0" y="0"/>
                  </a:moveTo>
                  <a:lnTo>
                    <a:pt x="982924" y="0"/>
                  </a:lnTo>
                  <a:lnTo>
                    <a:pt x="982924" y="982923"/>
                  </a:lnTo>
                  <a:lnTo>
                    <a:pt x="0" y="982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389338" cy="1059737"/>
            </a:xfrm>
            <a:custGeom>
              <a:avLst/>
              <a:gdLst/>
              <a:ahLst/>
              <a:cxnLst/>
              <a:rect l="l" t="t" r="r" b="b"/>
              <a:pathLst>
                <a:path w="1389338" h="1059737">
                  <a:moveTo>
                    <a:pt x="0" y="0"/>
                  </a:moveTo>
                  <a:lnTo>
                    <a:pt x="1389338" y="0"/>
                  </a:lnTo>
                  <a:lnTo>
                    <a:pt x="1389338" y="1059737"/>
                  </a:lnTo>
                  <a:lnTo>
                    <a:pt x="0" y="1059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700" t="-8605" r="-10776" b="-1950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4" name="TextBox 4"/>
          <p:cNvSpPr txBox="1"/>
          <p:nvPr/>
        </p:nvSpPr>
        <p:spPr>
          <a:xfrm>
            <a:off x="3288585" y="742973"/>
            <a:ext cx="12801600" cy="17645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046"/>
              </a:lnSpc>
              <a:spcBef>
                <a:spcPct val="0"/>
              </a:spcBef>
            </a:pPr>
            <a:r>
              <a:rPr lang="en-US" sz="4400" b="1" spc="-211" dirty="0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rPr>
              <a:t>MARKET SIZE AND OPPORTUNITY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14400" y="3445402"/>
            <a:ext cx="17190484" cy="5205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Global digital payments: $9+ trillion/year</a:t>
            </a:r>
          </a:p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Freelance &amp; gig economy: 1.5+ billion users</a:t>
            </a:r>
          </a:p>
          <a:p>
            <a:pPr marL="571500" lvl="0" indent="-57150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Rapid growth of Web3 financial tools</a:t>
            </a:r>
          </a:p>
          <a:p>
            <a:pPr lvl="0">
              <a:lnSpc>
                <a:spcPct val="150000"/>
              </a:lnSpc>
              <a:spcBef>
                <a:spcPct val="0"/>
              </a:spcBef>
            </a:pPr>
            <a:endParaRPr lang="en-US" sz="3831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  <a:p>
            <a:pPr marL="0" lvl="0" indent="0">
              <a:lnSpc>
                <a:spcPct val="150000"/>
              </a:lnSpc>
              <a:spcBef>
                <a:spcPct val="0"/>
              </a:spcBef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Opportunity: Even capturing a small fraction of P2P transactions creates a large scalable market, especially in emerging economies.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19253" y="241430"/>
            <a:ext cx="3916566" cy="787270"/>
            <a:chOff x="0" y="0"/>
            <a:chExt cx="5222089" cy="1049694"/>
          </a:xfrm>
        </p:grpSpPr>
        <p:sp>
          <p:nvSpPr>
            <p:cNvPr id="7" name="TextBox 7"/>
            <p:cNvSpPr txBox="1"/>
            <p:nvPr/>
          </p:nvSpPr>
          <p:spPr>
            <a:xfrm>
              <a:off x="0" y="27376"/>
              <a:ext cx="4575484" cy="1022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90"/>
                </a:lnSpc>
                <a:spcBef>
                  <a:spcPct val="0"/>
                </a:spcBef>
              </a:pPr>
              <a:r>
                <a:rPr lang="en-US" sz="4421" b="1" spc="-185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Defy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5484" y="-47625"/>
              <a:ext cx="646605" cy="591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9"/>
                </a:lnSpc>
              </a:pPr>
              <a:r>
                <a:rPr lang="en-US" sz="1235" b="1" spc="-51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26</a:t>
              </a:r>
            </a:p>
            <a:p>
              <a:pPr algn="ctr">
                <a:lnSpc>
                  <a:spcPts val="1729"/>
                </a:lnSpc>
                <a:spcBef>
                  <a:spcPct val="0"/>
                </a:spcBef>
              </a:pPr>
              <a:endParaRPr lang="en-US" sz="1235" b="1" spc="-51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569183" y="212611"/>
            <a:ext cx="2334717" cy="844908"/>
            <a:chOff x="0" y="0"/>
            <a:chExt cx="3112956" cy="1126544"/>
          </a:xfrm>
        </p:grpSpPr>
        <p:sp>
          <p:nvSpPr>
            <p:cNvPr id="10" name="TextBox 10"/>
            <p:cNvSpPr txBox="1"/>
            <p:nvPr/>
          </p:nvSpPr>
          <p:spPr>
            <a:xfrm>
              <a:off x="1616039" y="482243"/>
              <a:ext cx="287293" cy="4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8"/>
                </a:lnSpc>
              </a:pPr>
              <a:r>
                <a:rPr lang="en-US" sz="2149" b="1">
                  <a:solidFill>
                    <a:srgbClr val="F8F6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&amp;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130032" y="143621"/>
              <a:ext cx="982924" cy="982924"/>
            </a:xfrm>
            <a:custGeom>
              <a:avLst/>
              <a:gdLst/>
              <a:ahLst/>
              <a:cxnLst/>
              <a:rect l="l" t="t" r="r" b="b"/>
              <a:pathLst>
                <a:path w="982924" h="982924">
                  <a:moveTo>
                    <a:pt x="0" y="0"/>
                  </a:moveTo>
                  <a:lnTo>
                    <a:pt x="982924" y="0"/>
                  </a:lnTo>
                  <a:lnTo>
                    <a:pt x="982924" y="982923"/>
                  </a:lnTo>
                  <a:lnTo>
                    <a:pt x="0" y="982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389338" cy="1059737"/>
            </a:xfrm>
            <a:custGeom>
              <a:avLst/>
              <a:gdLst/>
              <a:ahLst/>
              <a:cxnLst/>
              <a:rect l="l" t="t" r="r" b="b"/>
              <a:pathLst>
                <a:path w="1389338" h="1059737">
                  <a:moveTo>
                    <a:pt x="0" y="0"/>
                  </a:moveTo>
                  <a:lnTo>
                    <a:pt x="1389338" y="0"/>
                  </a:lnTo>
                  <a:lnTo>
                    <a:pt x="1389338" y="1059737"/>
                  </a:lnTo>
                  <a:lnTo>
                    <a:pt x="0" y="1059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700" t="-8605" r="-10776" b="-19500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10669" y="854990"/>
            <a:ext cx="17193231" cy="11700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6"/>
              </a:lnSpc>
              <a:spcBef>
                <a:spcPct val="0"/>
              </a:spcBef>
            </a:pPr>
            <a:r>
              <a:rPr lang="en-US" sz="6433" b="1" spc="-270" dirty="0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rPr>
              <a:t>TRACTION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48758" y="2876389"/>
            <a:ext cx="17190484" cy="47949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lvl="0" indent="-571500" algn="ctr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831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  <a:p>
            <a:pPr marL="571500" lvl="0" indent="-571500" algn="ctr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Initial adoption by freelancers and P2P sellers</a:t>
            </a:r>
          </a:p>
          <a:p>
            <a:pPr marL="571500" lvl="0" indent="-571500" algn="ctr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Transaction-based growth driven by low escrow fees</a:t>
            </a:r>
          </a:p>
          <a:p>
            <a:pPr marL="571500" lvl="0" indent="-571500" algn="ctr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Usage-driven growth through low transaction fees</a:t>
            </a:r>
          </a:p>
          <a:p>
            <a:pPr marL="571500" lvl="0" indent="-571500" algn="ctr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Scalable growth enabled by </a:t>
            </a:r>
            <a:r>
              <a:rPr lang="en-US" sz="3831" u="sng" dirty="0" err="1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Shardeum</a:t>
            </a:r>
            <a:endParaRPr lang="en-US" sz="3831" u="sng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  <a:p>
            <a:pPr marL="571500" lvl="0" indent="-571500" algn="ctr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8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Clear path to real-world deployment post-hackathon</a:t>
            </a:r>
          </a:p>
          <a:p>
            <a:pPr marL="571500" lvl="0" indent="-571500" algn="ctr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lang="en-US" sz="3831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419253" y="241430"/>
            <a:ext cx="3916566" cy="787270"/>
            <a:chOff x="0" y="0"/>
            <a:chExt cx="5222089" cy="1049694"/>
          </a:xfrm>
        </p:grpSpPr>
        <p:sp>
          <p:nvSpPr>
            <p:cNvPr id="7" name="TextBox 7"/>
            <p:cNvSpPr txBox="1"/>
            <p:nvPr/>
          </p:nvSpPr>
          <p:spPr>
            <a:xfrm>
              <a:off x="0" y="27376"/>
              <a:ext cx="4575484" cy="1022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90"/>
                </a:lnSpc>
                <a:spcBef>
                  <a:spcPct val="0"/>
                </a:spcBef>
              </a:pPr>
              <a:r>
                <a:rPr lang="en-US" sz="4421" b="1" spc="-185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Defy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5484" y="-47625"/>
              <a:ext cx="646605" cy="591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9"/>
                </a:lnSpc>
              </a:pPr>
              <a:r>
                <a:rPr lang="en-US" sz="1235" b="1" spc="-51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26</a:t>
              </a:r>
            </a:p>
            <a:p>
              <a:pPr algn="ctr">
                <a:lnSpc>
                  <a:spcPts val="1729"/>
                </a:lnSpc>
                <a:spcBef>
                  <a:spcPct val="0"/>
                </a:spcBef>
              </a:pPr>
              <a:endParaRPr lang="en-US" sz="1235" b="1" spc="-51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569183" y="212611"/>
            <a:ext cx="2334717" cy="844908"/>
            <a:chOff x="0" y="0"/>
            <a:chExt cx="3112956" cy="1126544"/>
          </a:xfrm>
        </p:grpSpPr>
        <p:sp>
          <p:nvSpPr>
            <p:cNvPr id="10" name="TextBox 10"/>
            <p:cNvSpPr txBox="1"/>
            <p:nvPr/>
          </p:nvSpPr>
          <p:spPr>
            <a:xfrm>
              <a:off x="1616039" y="482243"/>
              <a:ext cx="287293" cy="4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8"/>
                </a:lnSpc>
              </a:pPr>
              <a:r>
                <a:rPr lang="en-US" sz="2149" b="1">
                  <a:solidFill>
                    <a:srgbClr val="F8F6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&amp;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130032" y="143621"/>
              <a:ext cx="982924" cy="982924"/>
            </a:xfrm>
            <a:custGeom>
              <a:avLst/>
              <a:gdLst/>
              <a:ahLst/>
              <a:cxnLst/>
              <a:rect l="l" t="t" r="r" b="b"/>
              <a:pathLst>
                <a:path w="982924" h="982924">
                  <a:moveTo>
                    <a:pt x="0" y="0"/>
                  </a:moveTo>
                  <a:lnTo>
                    <a:pt x="982924" y="0"/>
                  </a:lnTo>
                  <a:lnTo>
                    <a:pt x="982924" y="982923"/>
                  </a:lnTo>
                  <a:lnTo>
                    <a:pt x="0" y="982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389338" cy="1059737"/>
            </a:xfrm>
            <a:custGeom>
              <a:avLst/>
              <a:gdLst/>
              <a:ahLst/>
              <a:cxnLst/>
              <a:rect l="l" t="t" r="r" b="b"/>
              <a:pathLst>
                <a:path w="1389338" h="1059737">
                  <a:moveTo>
                    <a:pt x="0" y="0"/>
                  </a:moveTo>
                  <a:lnTo>
                    <a:pt x="1389338" y="0"/>
                  </a:lnTo>
                  <a:lnTo>
                    <a:pt x="1389338" y="1059737"/>
                  </a:lnTo>
                  <a:lnTo>
                    <a:pt x="0" y="1059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700" t="-8605" r="-10776" b="-19500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59884" y="829620"/>
            <a:ext cx="17193231" cy="10964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006"/>
              </a:lnSpc>
              <a:spcBef>
                <a:spcPct val="0"/>
              </a:spcBef>
            </a:pPr>
            <a:r>
              <a:rPr lang="en-US" sz="6000" b="1" spc="-270" dirty="0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rPr>
              <a:t>COMPETITION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59884" y="1926074"/>
            <a:ext cx="16566116" cy="54801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>
              <a:lnSpc>
                <a:spcPts val="5364"/>
              </a:lnSpc>
              <a:spcBef>
                <a:spcPct val="0"/>
              </a:spcBef>
            </a:pPr>
            <a:r>
              <a:rPr lang="en-US" sz="36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Existing Solutions:</a:t>
            </a:r>
          </a:p>
          <a:p>
            <a:pPr marL="571500" lvl="0" indent="-571500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Centralized escrow platforms</a:t>
            </a:r>
          </a:p>
          <a:p>
            <a:pPr marL="571500" lvl="0" indent="-571500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Freelance platforms with built-in escrow</a:t>
            </a:r>
          </a:p>
          <a:p>
            <a:pPr lvl="0">
              <a:lnSpc>
                <a:spcPts val="5364"/>
              </a:lnSpc>
              <a:spcBef>
                <a:spcPct val="0"/>
              </a:spcBef>
            </a:pPr>
            <a:endParaRPr lang="en-US" sz="3600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  <a:p>
            <a:pPr marL="0" lvl="0" indent="0">
              <a:lnSpc>
                <a:spcPts val="5364"/>
              </a:lnSpc>
              <a:spcBef>
                <a:spcPct val="0"/>
              </a:spcBef>
            </a:pPr>
            <a:r>
              <a:rPr lang="en-US" sz="36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Problems with them:</a:t>
            </a:r>
          </a:p>
          <a:p>
            <a:pPr marL="571500" lvl="0" indent="-571500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High fees</a:t>
            </a:r>
          </a:p>
          <a:p>
            <a:pPr marL="571500" lvl="0" indent="-571500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Limited transparency</a:t>
            </a:r>
          </a:p>
          <a:p>
            <a:pPr marL="571500" lvl="0" indent="-571500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Platform lock-in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19253" y="241430"/>
            <a:ext cx="3916566" cy="787270"/>
            <a:chOff x="0" y="0"/>
            <a:chExt cx="5222089" cy="1049694"/>
          </a:xfrm>
        </p:grpSpPr>
        <p:sp>
          <p:nvSpPr>
            <p:cNvPr id="7" name="TextBox 7"/>
            <p:cNvSpPr txBox="1"/>
            <p:nvPr/>
          </p:nvSpPr>
          <p:spPr>
            <a:xfrm>
              <a:off x="0" y="27376"/>
              <a:ext cx="4575484" cy="1022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90"/>
                </a:lnSpc>
                <a:spcBef>
                  <a:spcPct val="0"/>
                </a:spcBef>
              </a:pPr>
              <a:r>
                <a:rPr lang="en-US" sz="4421" b="1" spc="-185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Defy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5484" y="-47625"/>
              <a:ext cx="646605" cy="591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9"/>
                </a:lnSpc>
              </a:pPr>
              <a:r>
                <a:rPr lang="en-US" sz="1235" b="1" spc="-51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26</a:t>
              </a:r>
            </a:p>
            <a:p>
              <a:pPr algn="ctr">
                <a:lnSpc>
                  <a:spcPts val="1729"/>
                </a:lnSpc>
                <a:spcBef>
                  <a:spcPct val="0"/>
                </a:spcBef>
              </a:pPr>
              <a:endParaRPr lang="en-US" sz="1235" b="1" spc="-51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569183" y="212611"/>
            <a:ext cx="2334717" cy="844908"/>
            <a:chOff x="0" y="0"/>
            <a:chExt cx="3112956" cy="1126544"/>
          </a:xfrm>
        </p:grpSpPr>
        <p:sp>
          <p:nvSpPr>
            <p:cNvPr id="10" name="TextBox 10"/>
            <p:cNvSpPr txBox="1"/>
            <p:nvPr/>
          </p:nvSpPr>
          <p:spPr>
            <a:xfrm>
              <a:off x="1616039" y="482243"/>
              <a:ext cx="287293" cy="4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8"/>
                </a:lnSpc>
              </a:pPr>
              <a:r>
                <a:rPr lang="en-US" sz="2149" b="1">
                  <a:solidFill>
                    <a:srgbClr val="F8F6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&amp;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130032" y="143621"/>
              <a:ext cx="982924" cy="982924"/>
            </a:xfrm>
            <a:custGeom>
              <a:avLst/>
              <a:gdLst/>
              <a:ahLst/>
              <a:cxnLst/>
              <a:rect l="l" t="t" r="r" b="b"/>
              <a:pathLst>
                <a:path w="982924" h="982924">
                  <a:moveTo>
                    <a:pt x="0" y="0"/>
                  </a:moveTo>
                  <a:lnTo>
                    <a:pt x="982924" y="0"/>
                  </a:lnTo>
                  <a:lnTo>
                    <a:pt x="982924" y="982923"/>
                  </a:lnTo>
                  <a:lnTo>
                    <a:pt x="0" y="982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389338" cy="1059737"/>
            </a:xfrm>
            <a:custGeom>
              <a:avLst/>
              <a:gdLst/>
              <a:ahLst/>
              <a:cxnLst/>
              <a:rect l="l" t="t" r="r" b="b"/>
              <a:pathLst>
                <a:path w="1389338" h="1059737">
                  <a:moveTo>
                    <a:pt x="0" y="0"/>
                  </a:moveTo>
                  <a:lnTo>
                    <a:pt x="1389338" y="0"/>
                  </a:lnTo>
                  <a:lnTo>
                    <a:pt x="1389338" y="1059737"/>
                  </a:lnTo>
                  <a:lnTo>
                    <a:pt x="0" y="1059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700" t="-8605" r="-10776" b="-19500"/>
              </a:stretch>
            </a:blipFill>
          </p:spPr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79B7A998-5EFC-6B9D-E291-AC8E5AEAF06A}"/>
              </a:ext>
            </a:extLst>
          </p:cNvPr>
          <p:cNvSpPr txBox="1"/>
          <p:nvPr/>
        </p:nvSpPr>
        <p:spPr>
          <a:xfrm>
            <a:off x="9677400" y="3924300"/>
            <a:ext cx="109728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ts val="5364"/>
              </a:lnSpc>
              <a:spcBef>
                <a:spcPct val="0"/>
              </a:spcBef>
            </a:pPr>
            <a:endParaRPr lang="en-US" sz="3600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  <a:p>
            <a:pPr lvl="0">
              <a:lnSpc>
                <a:spcPts val="5364"/>
              </a:lnSpc>
              <a:spcBef>
                <a:spcPct val="0"/>
              </a:spcBef>
            </a:pPr>
            <a:r>
              <a:rPr lang="en-US" sz="3600" dirty="0" err="1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OpenEscrow</a:t>
            </a:r>
            <a:r>
              <a:rPr lang="en-US" sz="36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 Advantage:</a:t>
            </a:r>
          </a:p>
          <a:p>
            <a:pPr marL="571500" lvl="0" indent="-571500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No intermediaries</a:t>
            </a:r>
          </a:p>
          <a:p>
            <a:pPr marL="571500" lvl="0" indent="-571500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Smart contract automation</a:t>
            </a:r>
          </a:p>
          <a:p>
            <a:pPr marL="571500" lvl="0" indent="-571500">
              <a:lnSpc>
                <a:spcPts val="5364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Lower cost &amp; higher trust</a:t>
            </a:r>
          </a:p>
          <a:p>
            <a:endParaRPr lang="en-IN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21077" y="838200"/>
            <a:ext cx="17193231" cy="11535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66"/>
              </a:lnSpc>
              <a:spcBef>
                <a:spcPct val="0"/>
              </a:spcBef>
            </a:pPr>
            <a:r>
              <a:rPr lang="en-US" sz="6333" b="1" spc="-265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rPr>
              <a:t>FINANCIALS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47801" y="1968434"/>
            <a:ext cx="7467600" cy="44508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Revenue Model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Small escrow fee per transaction (0.5% – 1%)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Optional premium services (future):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Dispute resolution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Advanced privacy controls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API access for platforms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19253" y="241430"/>
            <a:ext cx="3916566" cy="787270"/>
            <a:chOff x="0" y="0"/>
            <a:chExt cx="5222089" cy="1049694"/>
          </a:xfrm>
        </p:grpSpPr>
        <p:sp>
          <p:nvSpPr>
            <p:cNvPr id="7" name="TextBox 7"/>
            <p:cNvSpPr txBox="1"/>
            <p:nvPr/>
          </p:nvSpPr>
          <p:spPr>
            <a:xfrm>
              <a:off x="0" y="27376"/>
              <a:ext cx="4575484" cy="1022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90"/>
                </a:lnSpc>
                <a:spcBef>
                  <a:spcPct val="0"/>
                </a:spcBef>
              </a:pPr>
              <a:r>
                <a:rPr lang="en-US" sz="4421" b="1" spc="-185" dirty="0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Defy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575484" y="-47625"/>
              <a:ext cx="646605" cy="591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9"/>
                </a:lnSpc>
              </a:pPr>
              <a:r>
                <a:rPr lang="en-US" sz="1235" b="1" spc="-51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26</a:t>
              </a:r>
            </a:p>
            <a:p>
              <a:pPr algn="ctr">
                <a:lnSpc>
                  <a:spcPts val="1729"/>
                </a:lnSpc>
                <a:spcBef>
                  <a:spcPct val="0"/>
                </a:spcBef>
              </a:pPr>
              <a:endParaRPr lang="en-US" sz="1235" b="1" spc="-51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5569183" y="212611"/>
            <a:ext cx="2334717" cy="844908"/>
            <a:chOff x="0" y="0"/>
            <a:chExt cx="3112956" cy="1126544"/>
          </a:xfrm>
        </p:grpSpPr>
        <p:sp>
          <p:nvSpPr>
            <p:cNvPr id="10" name="TextBox 10"/>
            <p:cNvSpPr txBox="1"/>
            <p:nvPr/>
          </p:nvSpPr>
          <p:spPr>
            <a:xfrm>
              <a:off x="1616039" y="482243"/>
              <a:ext cx="287293" cy="4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8"/>
                </a:lnSpc>
              </a:pPr>
              <a:r>
                <a:rPr lang="en-US" sz="2149" b="1">
                  <a:solidFill>
                    <a:srgbClr val="F8F6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&amp;</a:t>
              </a:r>
            </a:p>
          </p:txBody>
        </p:sp>
        <p:sp>
          <p:nvSpPr>
            <p:cNvPr id="11" name="Freeform 11"/>
            <p:cNvSpPr/>
            <p:nvPr/>
          </p:nvSpPr>
          <p:spPr>
            <a:xfrm>
              <a:off x="2130032" y="143621"/>
              <a:ext cx="982924" cy="982924"/>
            </a:xfrm>
            <a:custGeom>
              <a:avLst/>
              <a:gdLst/>
              <a:ahLst/>
              <a:cxnLst/>
              <a:rect l="l" t="t" r="r" b="b"/>
              <a:pathLst>
                <a:path w="982924" h="982924">
                  <a:moveTo>
                    <a:pt x="0" y="0"/>
                  </a:moveTo>
                  <a:lnTo>
                    <a:pt x="982924" y="0"/>
                  </a:lnTo>
                  <a:lnTo>
                    <a:pt x="982924" y="982923"/>
                  </a:lnTo>
                  <a:lnTo>
                    <a:pt x="0" y="982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>
              <a:off x="0" y="0"/>
              <a:ext cx="1389338" cy="1059737"/>
            </a:xfrm>
            <a:custGeom>
              <a:avLst/>
              <a:gdLst/>
              <a:ahLst/>
              <a:cxnLst/>
              <a:rect l="l" t="t" r="r" b="b"/>
              <a:pathLst>
                <a:path w="1389338" h="1059737">
                  <a:moveTo>
                    <a:pt x="0" y="0"/>
                  </a:moveTo>
                  <a:lnTo>
                    <a:pt x="1389338" y="0"/>
                  </a:lnTo>
                  <a:lnTo>
                    <a:pt x="1389338" y="1059737"/>
                  </a:lnTo>
                  <a:lnTo>
                    <a:pt x="0" y="1059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700" t="-8605" r="-10776" b="-19500"/>
              </a:stretch>
            </a:blipFill>
          </p:spPr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7ACE7B-728C-45BE-4792-D4367DA9B451}"/>
              </a:ext>
            </a:extLst>
          </p:cNvPr>
          <p:cNvSpPr txBox="1"/>
          <p:nvPr/>
        </p:nvSpPr>
        <p:spPr>
          <a:xfrm>
            <a:off x="9372600" y="2017596"/>
            <a:ext cx="8077199" cy="38969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  <a:latin typeface="Arvo" panose="020B0604020202020204" charset="0"/>
              </a:rPr>
              <a:t>Cost Structure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Arvo" panose="020B0604020202020204" charset="0"/>
              </a:rPr>
              <a:t>Smart contract deployment &amp; maintenance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Arvo" panose="020B0604020202020204" charset="0"/>
              </a:rPr>
              <a:t>Blockchain transaction costs (low on </a:t>
            </a:r>
            <a:r>
              <a:rPr lang="en-IN" sz="2800" dirty="0" err="1">
                <a:solidFill>
                  <a:schemeClr val="bg1"/>
                </a:solidFill>
                <a:latin typeface="Arvo" panose="020B0604020202020204" charset="0"/>
              </a:rPr>
              <a:t>Shardeum</a:t>
            </a:r>
            <a:r>
              <a:rPr lang="en-IN" sz="2800" dirty="0">
                <a:solidFill>
                  <a:schemeClr val="bg1"/>
                </a:solidFill>
                <a:latin typeface="Arvo" panose="020B0604020202020204" charset="0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Arvo" panose="020B0604020202020204" charset="0"/>
              </a:rPr>
              <a:t>Minimal backend infrastructure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Arvo" panose="020B0604020202020204" charset="0"/>
              </a:rPr>
              <a:t>No customer support or intermediary costs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C348296-B716-31F7-620C-D9970D5B55BE}"/>
              </a:ext>
            </a:extLst>
          </p:cNvPr>
          <p:cNvSpPr txBox="1"/>
          <p:nvPr/>
        </p:nvSpPr>
        <p:spPr>
          <a:xfrm>
            <a:off x="3695701" y="6931868"/>
            <a:ext cx="10439400" cy="2604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IN" sz="2800" dirty="0">
                <a:solidFill>
                  <a:schemeClr val="bg1"/>
                </a:solidFill>
                <a:latin typeface="Arvo" panose="020B0604020202020204" charset="0"/>
              </a:rPr>
              <a:t>Financial Outlook:</a:t>
            </a: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Arvo" panose="020B0604020202020204" charset="0"/>
              </a:rPr>
              <a:t>Low burn, high scalability</a:t>
            </a: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Arvo" panose="020B0604020202020204" charset="0"/>
              </a:rPr>
              <a:t>Sustainable even at small volumes</a:t>
            </a:r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bg1"/>
                </a:solidFill>
                <a:latin typeface="Arvo" panose="020B0604020202020204" charset="0"/>
              </a:rPr>
              <a:t>Strong upside with platform adoption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888" b="-38888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47385" y="1101840"/>
            <a:ext cx="17193231" cy="985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06"/>
              </a:lnSpc>
              <a:spcBef>
                <a:spcPct val="0"/>
              </a:spcBef>
            </a:pPr>
            <a:r>
              <a:rPr lang="en-US" sz="5433" b="1" spc="-228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rPr>
              <a:t>TEAM MEMBERS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19253" y="241430"/>
            <a:ext cx="3916566" cy="787270"/>
            <a:chOff x="0" y="0"/>
            <a:chExt cx="5222089" cy="1049694"/>
          </a:xfrm>
        </p:grpSpPr>
        <p:sp>
          <p:nvSpPr>
            <p:cNvPr id="6" name="TextBox 6"/>
            <p:cNvSpPr txBox="1"/>
            <p:nvPr/>
          </p:nvSpPr>
          <p:spPr>
            <a:xfrm>
              <a:off x="0" y="27376"/>
              <a:ext cx="4575484" cy="10223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190"/>
                </a:lnSpc>
                <a:spcBef>
                  <a:spcPct val="0"/>
                </a:spcBef>
              </a:pPr>
              <a:r>
                <a:rPr lang="en-US" sz="4421" b="1" spc="-185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Defy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575484" y="-47625"/>
              <a:ext cx="646605" cy="59142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29"/>
                </a:lnSpc>
              </a:pPr>
              <a:r>
                <a:rPr lang="en-US" sz="1235" b="1" spc="-51">
                  <a:solidFill>
                    <a:srgbClr val="F8F6F7"/>
                  </a:solidFill>
                  <a:latin typeface="Yapari Trial Ultra-Bold"/>
                  <a:ea typeface="Yapari Trial Ultra-Bold"/>
                  <a:cs typeface="Yapari Trial Ultra-Bold"/>
                  <a:sym typeface="Yapari Trial Ultra-Bold"/>
                </a:rPr>
                <a:t>26</a:t>
              </a:r>
            </a:p>
            <a:p>
              <a:pPr algn="ctr">
                <a:lnSpc>
                  <a:spcPts val="1729"/>
                </a:lnSpc>
                <a:spcBef>
                  <a:spcPct val="0"/>
                </a:spcBef>
              </a:pPr>
              <a:endParaRPr lang="en-US" sz="1235" b="1" spc="-51">
                <a:solidFill>
                  <a:srgbClr val="F8F6F7"/>
                </a:solidFill>
                <a:latin typeface="Yapari Trial Ultra-Bold"/>
                <a:ea typeface="Yapari Trial Ultra-Bold"/>
                <a:cs typeface="Yapari Trial Ultra-Bold"/>
                <a:sym typeface="Yapari Trial Ultra-Bold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569183" y="212611"/>
            <a:ext cx="2334717" cy="844908"/>
            <a:chOff x="0" y="0"/>
            <a:chExt cx="3112956" cy="1126544"/>
          </a:xfrm>
        </p:grpSpPr>
        <p:sp>
          <p:nvSpPr>
            <p:cNvPr id="9" name="TextBox 9"/>
            <p:cNvSpPr txBox="1"/>
            <p:nvPr/>
          </p:nvSpPr>
          <p:spPr>
            <a:xfrm>
              <a:off x="1616039" y="482243"/>
              <a:ext cx="287293" cy="4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08"/>
                </a:lnSpc>
              </a:pPr>
              <a:r>
                <a:rPr lang="en-US" sz="2149" b="1">
                  <a:solidFill>
                    <a:srgbClr val="F8F6F7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&amp;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2130032" y="143621"/>
              <a:ext cx="982924" cy="982924"/>
            </a:xfrm>
            <a:custGeom>
              <a:avLst/>
              <a:gdLst/>
              <a:ahLst/>
              <a:cxnLst/>
              <a:rect l="l" t="t" r="r" b="b"/>
              <a:pathLst>
                <a:path w="982924" h="982924">
                  <a:moveTo>
                    <a:pt x="0" y="0"/>
                  </a:moveTo>
                  <a:lnTo>
                    <a:pt x="982924" y="0"/>
                  </a:lnTo>
                  <a:lnTo>
                    <a:pt x="982924" y="982923"/>
                  </a:lnTo>
                  <a:lnTo>
                    <a:pt x="0" y="98292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>
              <a:off x="0" y="0"/>
              <a:ext cx="1389338" cy="1059737"/>
            </a:xfrm>
            <a:custGeom>
              <a:avLst/>
              <a:gdLst/>
              <a:ahLst/>
              <a:cxnLst/>
              <a:rect l="l" t="t" r="r" b="b"/>
              <a:pathLst>
                <a:path w="1389338" h="1059737">
                  <a:moveTo>
                    <a:pt x="0" y="0"/>
                  </a:moveTo>
                  <a:lnTo>
                    <a:pt x="1389338" y="0"/>
                  </a:lnTo>
                  <a:lnTo>
                    <a:pt x="1389338" y="1059737"/>
                  </a:lnTo>
                  <a:lnTo>
                    <a:pt x="0" y="105973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3700" t="-8605" r="-10776" b="-19500"/>
              </a:stretch>
            </a:blipFill>
          </p:spPr>
        </p:sp>
      </p:grpSp>
      <p:sp>
        <p:nvSpPr>
          <p:cNvPr id="12" name="TextBox 12"/>
          <p:cNvSpPr txBox="1"/>
          <p:nvPr/>
        </p:nvSpPr>
        <p:spPr>
          <a:xfrm>
            <a:off x="9781034" y="1852839"/>
            <a:ext cx="7000178" cy="60717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06"/>
              </a:lnSpc>
            </a:pPr>
            <a:endParaRPr dirty="0"/>
          </a:p>
          <a:p>
            <a:pPr algn="l">
              <a:lnSpc>
                <a:spcPts val="3406"/>
              </a:lnSpc>
            </a:pPr>
            <a:endParaRPr dirty="0"/>
          </a:p>
          <a:p>
            <a:pPr algn="l">
              <a:lnSpc>
                <a:spcPts val="3406"/>
              </a:lnSpc>
            </a:pPr>
            <a:r>
              <a:rPr lang="en-US" sz="2433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Member 2: Ayush Gupta</a:t>
            </a:r>
          </a:p>
          <a:p>
            <a:pPr>
              <a:lnSpc>
                <a:spcPts val="3406"/>
              </a:lnSpc>
            </a:pPr>
            <a:r>
              <a:rPr lang="en-US" sz="2433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College Name: </a:t>
            </a:r>
            <a:r>
              <a:rPr lang="en-US" sz="2430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Vellore Institute of Technology,  Chennai Campus</a:t>
            </a:r>
          </a:p>
          <a:p>
            <a:pPr algn="l">
              <a:lnSpc>
                <a:spcPts val="3406"/>
              </a:lnSpc>
            </a:pPr>
            <a:r>
              <a:rPr lang="en-US" sz="2433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Email: g.ayush2k07@gmail.com</a:t>
            </a:r>
          </a:p>
          <a:p>
            <a:pPr algn="l">
              <a:lnSpc>
                <a:spcPts val="3406"/>
              </a:lnSpc>
            </a:pPr>
            <a:r>
              <a:rPr lang="en-US" sz="2433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Phone No.: 9625489960</a:t>
            </a:r>
          </a:p>
          <a:p>
            <a:pPr algn="l">
              <a:lnSpc>
                <a:spcPts val="3406"/>
              </a:lnSpc>
            </a:pPr>
            <a:endParaRPr lang="en-US" sz="2433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  <a:p>
            <a:pPr algn="l">
              <a:lnSpc>
                <a:spcPts val="3406"/>
              </a:lnSpc>
            </a:pPr>
            <a:endParaRPr lang="en-US" sz="2433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  <a:p>
            <a:pPr algn="l">
              <a:lnSpc>
                <a:spcPts val="3406"/>
              </a:lnSpc>
            </a:pPr>
            <a:r>
              <a:rPr lang="en-US" sz="2433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Member 3: </a:t>
            </a:r>
            <a:r>
              <a:rPr lang="en-US" sz="2433" dirty="0" err="1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Tashmit</a:t>
            </a:r>
            <a:r>
              <a:rPr lang="en-US" sz="2433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 Podder</a:t>
            </a:r>
          </a:p>
          <a:p>
            <a:pPr algn="l">
              <a:lnSpc>
                <a:spcPts val="3406"/>
              </a:lnSpc>
            </a:pPr>
            <a:r>
              <a:rPr lang="en-US" sz="2433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College Name: Vellore Institute of Technology,  Chennai Campus</a:t>
            </a:r>
          </a:p>
          <a:p>
            <a:pPr algn="l">
              <a:lnSpc>
                <a:spcPts val="3406"/>
              </a:lnSpc>
            </a:pPr>
            <a:r>
              <a:rPr lang="en-US" sz="2433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Email: tashmitpodder@gmail.com</a:t>
            </a:r>
          </a:p>
          <a:p>
            <a:pPr algn="l">
              <a:lnSpc>
                <a:spcPts val="3406"/>
              </a:lnSpc>
            </a:pPr>
            <a:r>
              <a:rPr lang="en-US" sz="2433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Phone No.: 8697222085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28700" y="2643890"/>
            <a:ext cx="6062633" cy="56357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04"/>
              </a:lnSpc>
            </a:pPr>
            <a:r>
              <a:rPr lang="en-US" sz="24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Team lead: Sagnik Sen</a:t>
            </a:r>
          </a:p>
          <a:p>
            <a:pPr algn="l">
              <a:lnSpc>
                <a:spcPts val="3404"/>
              </a:lnSpc>
            </a:pPr>
            <a:r>
              <a:rPr lang="en-US" sz="24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College Name: Vellore Institute of Technology,  Chennai Campus</a:t>
            </a:r>
          </a:p>
          <a:p>
            <a:pPr algn="l">
              <a:lnSpc>
                <a:spcPts val="3404"/>
              </a:lnSpc>
            </a:pPr>
            <a:r>
              <a:rPr lang="en-US" sz="24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Email: sen.sagnik9@gmail.com</a:t>
            </a:r>
          </a:p>
          <a:p>
            <a:pPr algn="l">
              <a:lnSpc>
                <a:spcPts val="3404"/>
              </a:lnSpc>
            </a:pPr>
            <a:r>
              <a:rPr lang="en-US" sz="24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Phone No.: 9734187782</a:t>
            </a:r>
          </a:p>
          <a:p>
            <a:pPr algn="l">
              <a:lnSpc>
                <a:spcPts val="3404"/>
              </a:lnSpc>
            </a:pPr>
            <a:endParaRPr lang="en-US" sz="2431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  <a:p>
            <a:pPr algn="l">
              <a:lnSpc>
                <a:spcPts val="3404"/>
              </a:lnSpc>
            </a:pPr>
            <a:endParaRPr lang="en-US" sz="2431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  <a:p>
            <a:pPr algn="l">
              <a:lnSpc>
                <a:spcPts val="3404"/>
              </a:lnSpc>
            </a:pPr>
            <a:r>
              <a:rPr lang="en-US" sz="24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Member 1: Aaryan Pratap Singh</a:t>
            </a:r>
          </a:p>
          <a:p>
            <a:pPr>
              <a:lnSpc>
                <a:spcPts val="3404"/>
              </a:lnSpc>
            </a:pPr>
            <a:r>
              <a:rPr lang="en-US" sz="24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College Name: Vellore Institute of Technology,  Chennai Campus</a:t>
            </a:r>
          </a:p>
          <a:p>
            <a:pPr algn="l">
              <a:lnSpc>
                <a:spcPts val="3404"/>
              </a:lnSpc>
            </a:pPr>
            <a:r>
              <a:rPr lang="en-US" sz="24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Email: aaryan.p.singh2502@gmail.com</a:t>
            </a:r>
          </a:p>
          <a:p>
            <a:pPr algn="l">
              <a:lnSpc>
                <a:spcPts val="3404"/>
              </a:lnSpc>
            </a:pPr>
            <a:r>
              <a:rPr lang="en-US" sz="2431" dirty="0">
                <a:solidFill>
                  <a:srgbClr val="F8F6F7"/>
                </a:solidFill>
                <a:latin typeface="Arvo"/>
                <a:ea typeface="Arvo"/>
                <a:cs typeface="Arvo"/>
                <a:sym typeface="Arvo"/>
              </a:rPr>
              <a:t>Phone No.: 8217652265</a:t>
            </a:r>
          </a:p>
          <a:p>
            <a:pPr algn="ctr">
              <a:lnSpc>
                <a:spcPts val="3404"/>
              </a:lnSpc>
            </a:pPr>
            <a:endParaRPr lang="en-US" sz="2431" dirty="0">
              <a:solidFill>
                <a:srgbClr val="F8F6F7"/>
              </a:solidFill>
              <a:latin typeface="Arvo"/>
              <a:ea typeface="Arvo"/>
              <a:cs typeface="Arvo"/>
              <a:sym typeface="Arv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510</Words>
  <Application>Microsoft Office PowerPoint</Application>
  <PresentationFormat>Custom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Yapari Trial Ultra-Bold</vt:lpstr>
      <vt:lpstr>Calibri</vt:lpstr>
      <vt:lpstr>HK Modular</vt:lpstr>
      <vt:lpstr>Arial</vt:lpstr>
      <vt:lpstr>Arvo</vt:lpstr>
      <vt:lpstr>DM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 pitch deck.pptx</dc:title>
  <cp:lastModifiedBy>Sagnik Sen</cp:lastModifiedBy>
  <cp:revision>6</cp:revision>
  <dcterms:created xsi:type="dcterms:W3CDTF">2006-08-16T00:00:00Z</dcterms:created>
  <dcterms:modified xsi:type="dcterms:W3CDTF">2026-01-12T21:34:58Z</dcterms:modified>
  <dc:identifier>DAG-BXQ1Ee4</dc:identifier>
</cp:coreProperties>
</file>